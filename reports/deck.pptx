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CPG beverages portfolio - 67 SKUs x 6 distribution centers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Demand forecasting &amp; supply order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862"/>
                </a:solidFill>
              </a:defRPr>
            </a:pPr>
            <a:r>
              <a:t>A weekly pipeline that forecasts demand with calibrated uncertainty, flags stock-out risk, and recommends the next replenishment order per SKU and DC - with the business case against today's naive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6B58"/>
                </a:solidFill>
              </a:defRPr>
            </a:pPr>
            <a: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862"/>
                </a:solidFill>
              </a:defRPr>
            </a:pPr>
            <a:r>
              <a:t>lower forecast error than a 4-week moving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6B58"/>
                </a:solidFill>
              </a:defRPr>
            </a:pPr>
            <a: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862"/>
                </a:solidFill>
              </a:defRPr>
            </a:pPr>
            <a:r>
              <a:t>implied service level of the recommended order (MA policy: 99%)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6B58"/>
                </a:solidFill>
              </a:defRPr>
            </a:pPr>
            <a:r>
              <a:t>12 -&gt;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862"/>
                </a:solidFill>
              </a:defRPr>
            </a:pPr>
            <a:r>
              <a:t>SKU x DC lines below 90% service level (moving-average policy -&gt; 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6B58"/>
                </a:solidFill>
              </a:defRPr>
            </a:pPr>
            <a:r>
              <a:t>28.3M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862"/>
                </a:solidFill>
              </a:defRPr>
            </a:pPr>
            <a:r>
              <a:t>MXN of target stock (19%) freed by forecast-sized safety stock at the same service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862"/>
                </a:solidFill>
              </a:defRPr>
            </a:pPr>
            <a:r>
              <a:t>Tracks delivered: A (forecasting) + B (stock-out risk) + supply-order engine. One command re-runs everything: .\run.ps1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Data analysis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Data: two years of sell-out, three weeks of inventory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328 SKU x DC series, daily sell-out 2024-03-18 to 2026-04-10, modelled on 107 complete weeks.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Store inventory exists only for 2026-03-20 .. 04-09; the last complete snapshot (2026-04-02) is 'current on-hand'. The final week has 4 UPCs.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Clean-ups: 3 UPCs mapped to two item numbers (de-duplicated), 7,116 negative store on-hand rows (clipped, kept as a stock-out signal), late-starting series kept as missing, 1,720 daily outliers winsorised for training only.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Calendar effects engineered: Mexican federal holidays, quincena paydays, Semana Santa, El Buen Fin, December peak. Future price and promos are treated as unknown.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Clusters (ABC x XYZ): A-X 6, A-Y 114, A-Z 80, B-Y 32, B-Z 90, C-Z 6. Lead time is 7 days and MOQ 100 for every SKU; only safety-stock days vary (3 / 7 / 14).</a:t>
            </a:r>
          </a:p>
        </p:txBody>
      </p:sp>
      <p:pic>
        <p:nvPicPr>
          <p:cNvPr id="7" name="Picture 6" descr="inventor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632915"/>
          </a:xfrm>
          <a:prstGeom prst="rect">
            <a:avLst/>
          </a:prstGeom>
        </p:spPr>
      </p:pic>
      <p:pic>
        <p:nvPicPr>
          <p:cNvPr id="8" name="Picture 7" descr="portfolio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40480"/>
            <a:ext cx="4480560" cy="1568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How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Architecture and data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Extraction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sell-out, inventory, catalogs; schema 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36470" y="21945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3078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Feature store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daily + weekly parquet: lags, calendar, promo, cover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8610" y="21945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292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Training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expanding-window backtest; per-cluster selection; interval calibration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00750" y="21945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506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Scoring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8-week quantile forecast per SKU x DC, weekly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2890" y="21945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7720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Recommendation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risk scores + order-up-to policy -&gt; order file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65030" y="21945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59340" y="1645920"/>
            <a:ext cx="1653540" cy="12801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Consumption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planner queue, S&amp;OP input,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Stages communicate only through files (parquet / CSV), so any stage can be re-run alone and every artifact is inspectable.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All assumptions live in config.toml: as-of date, cold-start threshold, outlier z, stock-out label share, quantiles, folds, service-level targets, cost ratio.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Typed Python package, argparse CLI, pytest suite (metrics, calendar, aggregation, MOQ rounding, service-level maths, labels).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Runtime on a laptop: about 3 minutes end to end (LightGBM global model + 328 ETS fits x 8 folds).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Track A -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Forecasting: a global LightGBM model wins every cluster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4 / 10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675120" cy="2968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554480"/>
          <a:ext cx="4389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cov90 raw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seasonal_naive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2004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Overall WAPE 0.17 vs 0.20 (ETS) and 0.23 (MA4); seasonal naive 0.56 with +48% bias - last year is not a guide.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Selection rule: lowest mean WAPE over 8 folds unless a simpler or steadier model is within 0.02. LightGBM wins outright in all six clusters.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Blind test: with the last 8 weeks sealed and the choice made without them, LightGBM still leads (WAPE 0.115 vs ETS 0.123); the pre-registered choice held in 4 of 6 clusters.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Bias -0.05: slight under-forecast, concentrated in promo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Track A - prediction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Uncertainty: calibrated intervals, honestly measured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5 / 10</a:t>
            </a:r>
          </a:p>
        </p:txBody>
      </p:sp>
      <p:pic>
        <p:nvPicPr>
          <p:cNvPr id="6" name="Picture 5" descr="coverag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2234687"/>
          </a:xfrm>
          <a:prstGeom prst="rect">
            <a:avLst/>
          </a:prstGeom>
        </p:spPr>
      </p:pic>
      <p:pic>
        <p:nvPicPr>
          <p:cNvPr id="7" name="Picture 6" descr="cluster_forecast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669280" cy="2832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Raw LightGBM quantiles were over-confident (90% band covered 73%). A conformal-style width factor per model x cluster is fitted on folds 1-5 and checked on folds 6-8: calibrated 90% coverage 95%, 80% coverage 91%.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The calibrated p90 is what sizes safety stock in the order engine; the median drives the expected quantity.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Error grows with horizon (see report); the 2-week protection period uses the most accurate part of the curve.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Track B -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Stock-out risk: an alert planners can read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Alert = 'on current DC stock and expected demand, this SKU is likely short at stores within the 7-day lead time'. High severity: P(stock-out) &gt; 75% or cover below lead time.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Three scorers: days-of-cover rule (cover &lt; lead time + safety days), forecast probability P(7-day demand &gt; on-hand) from calibrated quantiles, Isolation Forest on cover / probability / sales-vs-forecast / stock trend.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Label: &gt;= 25% of a DC's stores at zero. The window holds 189 event days over 15 series - all chronic, so lead-time-to-alert cannot be measured from this file.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As of 2026-04-02: {'none': 238, 'medium': 58, 'high': 25} alerts across 321 SKU x DC.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754880"/>
          <a:ext cx="5669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/>
                <a:gridCol w="944880"/>
                <a:gridCol w="944880"/>
                <a:gridCol w="944880"/>
                <a:gridCol w="944880"/>
                <a:gridCol w="9448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n_alerts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n_events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false_alarm_rate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risk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1936376"/>
          </a:xfrm>
          <a:prstGeom prst="rect">
            <a:avLst/>
          </a:prstGeom>
        </p:spPr>
      </p:pic>
      <p:pic>
        <p:nvPicPr>
          <p:cNvPr id="9" name="Picture 8" descr="risk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2830245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Supply order: what to buy next cycle, 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7 / 10</a:t>
            </a:r>
          </a:p>
        </p:txBody>
      </p:sp>
      <p:pic>
        <p:nvPicPr>
          <p:cNvPr id="6" name="Picture 5" descr="order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23217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Order-up-to over a 14-day protection period (lead time 7 + weekly review 7). Safety stock = max(catalog days policy, stock needed for the ABC service-level target under the calibrated forecast). Rounded up to MOQ.</a:t>
            </a:r>
          </a:p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Recommended: 2,184,400 units, MXN 53,371,555 working capital, implied service level 99%, expected fill rate 100%.</a:t>
            </a:r>
          </a:p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4-week moving-average policy: 2,156,800 units, service level 99%, fill rate 100%.</a:t>
            </a:r>
          </a:p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Delta this cycle: +1,453,165 MXN working capital for 1,087 fewer expected lost units; the tail matters more: 12 -&gt; 3 lines below 90% service level.</a:t>
            </a:r>
          </a:p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Forecast-sized safety stock at the same targets (fq variant) would carry 123.2M instead of 151.5M MXN of target stock at 96% service level - the negotiable lever.</a:t>
            </a:r>
          </a:p>
          <a:p>
            <a:pPr>
              <a:spcAft>
                <a:spcPts val="600"/>
              </a:spcAft>
              <a:defRPr sz="1000">
                <a:solidFill>
                  <a:srgbClr val="18221D"/>
                </a:solidFill>
              </a:defRPr>
            </a:pPr>
            <a:r>
              <a:t>•  12 of 328 lines flagged for planner review (discontinued, no inventory snapshot, high promo).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Business impact and where not to trust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Fill-rate lift: 100% -&gt; 100% over the protection period (expected, model distribution).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Lost-sales reduction: 1,087 units per cycle at portfolio level.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Inventory cash: 28.3M MXN of target stock freed if safety stock is sized from the calibrated forecast instead of fixed days (shelf-price basis; set cost_ratio for cost).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Service-level tail: 12 lines below 90% under the moving-average policy vs 3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9911E"/>
                </a:solidFill>
              </a:defRPr>
            </a:pPr>
            <a:r>
              <a:t>Do not trust the model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Discontinued lines (7 series): orders forced to zero, flagged.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Cold-start SKUs (&lt; 26 weeks): moving-average fallback, flagged.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Promo-driven weeks: promos are unknown ahead, spikes are under-forecast - overlay the promo calendar.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A-Z cluster: highest error and widest bands - order on the p90, not the median.</a:t>
            </a:r>
          </a:p>
          <a:p>
            <a:pPr>
              <a:spcAft>
                <a:spcPts val="600"/>
              </a:spcAft>
              <a:defRPr sz="1100">
                <a:solidFill>
                  <a:srgbClr val="18221D"/>
                </a:solidFill>
              </a:defRPr>
            </a:pPr>
            <a:r>
              <a:t>•  Lines without an inventory snapshot or with in-transit orders (receipts are not in the data).</a:t>
            </a:r>
          </a:p>
        </p:txBody>
      </p:sp>
      <p:pic>
        <p:nvPicPr>
          <p:cNvPr id="9" name="Picture 8" descr="series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5486400" cy="2979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Operating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Productionization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029968" cy="17373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Schedule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weekly scoring Monday after sales close; monthly LightGBM retrain; ETS refit each run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12898" y="24231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07208" y="1645920"/>
            <a:ext cx="2029968" cy="17373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Monitoring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rolling 4-wk WAPE &amp; bias per cluster vs backtest envelope; interval coverage vs nominal; input schema &amp; coverage checks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71466" y="24231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65776" y="1645920"/>
            <a:ext cx="2029968" cy="17373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Alerting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drift breach -&gt; retrain + human review; data gaps -&gt; hold orders for affected DCs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30034" y="24231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24344" y="1645920"/>
            <a:ext cx="2029968" cy="17373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Human in the loop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planner approves / overrides each order line; overrides logged as training signal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88602" y="2423160"/>
            <a:ext cx="160020" cy="182880"/>
          </a:xfrm>
          <a:prstGeom prst="rightArrow">
            <a:avLst/>
          </a:prstGeom>
          <a:solidFill>
            <a:srgbClr val="5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82912" y="1645920"/>
            <a:ext cx="2029968" cy="1737360"/>
          </a:xfrm>
          <a:prstGeom prst="roundRect">
            <a:avLst/>
          </a:prstGeom>
          <a:solidFill>
            <a:srgbClr val="EEF2ED"/>
          </a:solidFill>
          <a:ln>
            <a:solidFill>
              <a:srgbClr val="D6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6B58"/>
                </a:solidFill>
              </a:defRPr>
            </a:pPr>
            <a:r>
              <a:t>Ownership</a:t>
            </a:r>
          </a:p>
          <a:p>
            <a:pPr>
              <a:defRPr sz="900">
                <a:solidFill>
                  <a:srgbClr val="18221D"/>
                </a:solidFill>
              </a:defRPr>
            </a:pPr>
            <a:r>
              <a:t>DS owns models &amp; monitors; supply planning owns policy targets in config.toml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Failure modes covered: missing inventory day (falls back to last full snapshot and flags), new SKU (cold-start rule), catalog change (schema validation fails loudly), negative stock (clipped and counted).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Retraining trigger: cluster WAPE above the backtest p90 for two consecutive weeks, or coverage below nominal minus 10 points.</a:t>
            </a:r>
          </a:p>
          <a:p>
            <a:pPr>
              <a:spcAft>
                <a:spcPts val="600"/>
              </a:spcAft>
              <a:defRPr sz="1200">
                <a:solidFill>
                  <a:srgbClr val="18221D"/>
                </a:solidFill>
              </a:defRPr>
            </a:pPr>
            <a:r>
              <a:t>•  Reproducibility: pinned dependencies, fixed seeds, one command from a clean clone, tests on every metric and policy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58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8221D"/>
                </a:solidFill>
              </a:defRPr>
            </a:pPr>
            <a:r>
              <a:t>Next steps and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64240" cy="0"/>
          </a:xfrm>
          <a:prstGeom prst="line">
            <a:avLst/>
          </a:prstGeom>
          <a:ln>
            <a:solidFill>
              <a:srgbClr val="D6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862"/>
                </a:solidFill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21D"/>
                </a:solidFill>
              </a:defRPr>
            </a:pPr>
            <a:r>
              <a:t>•  Planner UI: order lines with severity, cover days, p50/p90 demand and the override reason; one click to approve a DC.</a:t>
            </a:r>
          </a:p>
          <a:p>
            <a:pPr>
              <a:spcAft>
                <a:spcPts val="600"/>
              </a:spcAft>
              <a:defRPr sz="1300">
                <a:solidFill>
                  <a:srgbClr val="18221D"/>
                </a:solidFill>
              </a:defRPr>
            </a:pPr>
            <a:r>
              <a:t>•  S&amp;OP cycle: monthly cluster-level forecast pack (this report) as the statistical baseline; commercial overlays for promos and launches.</a:t>
            </a:r>
          </a:p>
          <a:p>
            <a:pPr>
              <a:spcAft>
                <a:spcPts val="600"/>
              </a:spcAft>
              <a:defRPr sz="1300">
                <a:solidFill>
                  <a:srgbClr val="18221D"/>
                </a:solidFill>
              </a:defRPr>
            </a:pPr>
            <a:r>
              <a:t>•  Data asks: promo calendar and planned prices (largest accuracy lever), receipts / in-transit orders, store-level stock history beyond 21 days to learn true stock-out dynamics.</a:t>
            </a:r>
          </a:p>
          <a:p>
            <a:pPr>
              <a:spcAft>
                <a:spcPts val="600"/>
              </a:spcAft>
              <a:defRPr sz="1300">
                <a:solidFill>
                  <a:srgbClr val="18221D"/>
                </a:solidFill>
              </a:defRPr>
            </a:pPr>
            <a:r>
              <a:t>•  Model roadmap: promo-aware features once the calendar exists; hierarchical reconciliation UPC x DC -&gt; UPC; store-level allocation of the DC order.</a:t>
            </a:r>
          </a:p>
          <a:p>
            <a:pPr>
              <a:spcAft>
                <a:spcPts val="600"/>
              </a:spcAft>
              <a:defRPr sz="1300">
                <a:solidFill>
                  <a:srgbClr val="18221D"/>
                </a:solidFill>
              </a:defRPr>
            </a:pPr>
            <a:r>
              <a:t>•  API: score-on-demand endpoint returning forecast, risk and recommended order for a SKU x DC; batch file for ERP upload.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